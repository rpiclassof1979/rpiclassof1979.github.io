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C040-28D7-90D5-3405-37CAC45783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State of the</a:t>
            </a:r>
            <a:br>
              <a:rPr lang="en-US" dirty="0"/>
            </a:br>
            <a:r>
              <a:rPr lang="en-US" dirty="0"/>
              <a:t>       Rensselaer Union</a:t>
            </a:r>
            <a:br>
              <a:rPr lang="en-US" dirty="0"/>
            </a:br>
            <a:r>
              <a:rPr lang="en-US" dirty="0"/>
              <a:t>   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EDCC5-76E6-4949-5778-2342EAC427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Presentation to the Class of 1979</a:t>
            </a:r>
          </a:p>
          <a:p>
            <a:r>
              <a:rPr lang="en-US" dirty="0">
                <a:solidFill>
                  <a:schemeClr val="tx1"/>
                </a:solidFill>
              </a:rPr>
              <a:t>November 18, 2025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Jon Kessler, ‘79, ‘82G</a:t>
            </a:r>
          </a:p>
          <a:p>
            <a:r>
              <a:rPr lang="en-US" dirty="0">
                <a:solidFill>
                  <a:schemeClr val="tx1"/>
                </a:solidFill>
              </a:rPr>
              <a:t>Charlie Potts, Director of the Union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81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2259-B51A-7B38-9881-94569F6F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60182"/>
            <a:ext cx="8534400" cy="960881"/>
          </a:xfrm>
        </p:spPr>
        <p:txBody>
          <a:bodyPr/>
          <a:lstStyle/>
          <a:p>
            <a:r>
              <a:rPr lang="en-US" dirty="0"/>
              <a:t>MAJOR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D6B00-4A51-0EF5-367E-6A9FA040E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817277"/>
            <a:ext cx="8534400" cy="4104951"/>
          </a:xfrm>
        </p:spPr>
        <p:txBody>
          <a:bodyPr>
            <a:normAutofit fontScale="925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Overall state of the building</a:t>
            </a:r>
          </a:p>
          <a:p>
            <a:r>
              <a:rPr lang="en-US" sz="3200" dirty="0">
                <a:solidFill>
                  <a:schemeClr val="tx1"/>
                </a:solidFill>
              </a:rPr>
              <a:t>Rathskeller games room renovations</a:t>
            </a:r>
          </a:p>
          <a:p>
            <a:r>
              <a:rPr lang="en-US" sz="3200" dirty="0">
                <a:solidFill>
                  <a:schemeClr val="tx1"/>
                </a:solidFill>
              </a:rPr>
              <a:t>Governance, both student &amp; administrative</a:t>
            </a:r>
          </a:p>
          <a:p>
            <a:r>
              <a:rPr lang="en-US" sz="3200" dirty="0">
                <a:solidFill>
                  <a:schemeClr val="tx1"/>
                </a:solidFill>
              </a:rPr>
              <a:t>Clubs &amp; student participation</a:t>
            </a:r>
          </a:p>
          <a:p>
            <a:r>
              <a:rPr lang="en-US" sz="3200" dirty="0">
                <a:solidFill>
                  <a:schemeClr val="tx1"/>
                </a:solidFill>
              </a:rPr>
              <a:t>Exterior projects</a:t>
            </a:r>
          </a:p>
          <a:p>
            <a:r>
              <a:rPr lang="en-US" sz="3200" dirty="0">
                <a:solidFill>
                  <a:schemeClr val="tx1"/>
                </a:solidFill>
              </a:rPr>
              <a:t>Future endeavors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2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614F-BF95-5701-ACA8-F35DFD3C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E0A2-4536-4124-4A7F-B5F8BA9A8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60182"/>
            <a:ext cx="8534400" cy="960881"/>
          </a:xfrm>
        </p:spPr>
        <p:txBody>
          <a:bodyPr>
            <a:normAutofit/>
          </a:bodyPr>
          <a:lstStyle/>
          <a:p>
            <a:r>
              <a:rPr lang="en-US" dirty="0"/>
              <a:t>State of the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6155E-05DD-7155-F60D-EC82884C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521063"/>
            <a:ext cx="10960392" cy="5159655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Last major overhaul was 1999-2000, Rick Hartt era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Elevator, Mother’s moving to part of the games room, bowling alley shutdown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Exterior balcony enclosures (3 out of 4), including pub on 15</a:t>
            </a:r>
            <a:r>
              <a:rPr lang="en-US" sz="2200" baseline="30000" dirty="0">
                <a:solidFill>
                  <a:schemeClr val="tx1"/>
                </a:solidFill>
              </a:rPr>
              <a:t>th</a:t>
            </a:r>
            <a:r>
              <a:rPr lang="en-US" sz="2200" dirty="0">
                <a:solidFill>
                  <a:schemeClr val="tx1"/>
                </a:solidFill>
              </a:rPr>
              <a:t> Street side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Reconfiguration of meeting rooms and offices</a:t>
            </a:r>
          </a:p>
          <a:p>
            <a:r>
              <a:rPr lang="en-US" sz="2200" dirty="0">
                <a:solidFill>
                  <a:schemeClr val="tx1"/>
                </a:solidFill>
              </a:rPr>
              <a:t>Smaller changes over the past 25 years, e.g. campus mail center </a:t>
            </a:r>
          </a:p>
          <a:p>
            <a:r>
              <a:rPr lang="en-US" sz="2200" dirty="0">
                <a:solidFill>
                  <a:schemeClr val="tx1"/>
                </a:solidFill>
              </a:rPr>
              <a:t>Summer 2024 initial Rathskeller updates 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Bookstore frontage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Dining area, seating, and food vendors</a:t>
            </a:r>
          </a:p>
          <a:p>
            <a:r>
              <a:rPr lang="en-US" sz="2200" dirty="0">
                <a:solidFill>
                  <a:schemeClr val="tx1"/>
                </a:solidFill>
              </a:rPr>
              <a:t>Refresh of the student government suite</a:t>
            </a:r>
          </a:p>
          <a:p>
            <a:r>
              <a:rPr lang="en-US" sz="2200" dirty="0">
                <a:solidFill>
                  <a:schemeClr val="tx1"/>
                </a:solidFill>
              </a:rPr>
              <a:t>Chaplains’ offices (2</a:t>
            </a:r>
            <a:r>
              <a:rPr lang="en-US" sz="2200" baseline="30000" dirty="0">
                <a:solidFill>
                  <a:schemeClr val="tx1"/>
                </a:solidFill>
              </a:rPr>
              <a:t>nd</a:t>
            </a:r>
            <a:r>
              <a:rPr lang="en-US" sz="2200" dirty="0">
                <a:solidFill>
                  <a:schemeClr val="tx1"/>
                </a:solidFill>
              </a:rPr>
              <a:t> floor NE corner) moved to Academy Hall, with space now repurposed, including fraternity &amp; sorority offices</a:t>
            </a:r>
          </a:p>
          <a:p>
            <a:r>
              <a:rPr lang="en-US" sz="2200" dirty="0">
                <a:solidFill>
                  <a:schemeClr val="tx1"/>
                </a:solidFill>
              </a:rPr>
              <a:t>Lavendar Lounge updates recently completed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41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2A334-C443-9FB3-5617-29ABD95DE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84552-6A94-2779-46FE-301D45412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60182"/>
            <a:ext cx="10823576" cy="960881"/>
          </a:xfrm>
        </p:spPr>
        <p:txBody>
          <a:bodyPr>
            <a:normAutofit/>
          </a:bodyPr>
          <a:lstStyle/>
          <a:p>
            <a:r>
              <a:rPr lang="en-US" dirty="0"/>
              <a:t>Rathskeller games room reconstruction</a:t>
            </a:r>
          </a:p>
        </p:txBody>
      </p:sp>
      <p:pic>
        <p:nvPicPr>
          <p:cNvPr id="5" name="Picture 4" descr="A blueprint of a house&#10;&#10;AI-generated content may be incorrect.">
            <a:extLst>
              <a:ext uri="{FF2B5EF4-FFF2-40B4-BE49-F238E27FC236}">
                <a16:creationId xmlns:a16="http://schemas.microsoft.com/office/drawing/2014/main" id="{B47CBFE5-DBD9-5B5E-E125-C657B3E5A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8082"/>
            <a:ext cx="12192000" cy="434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19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5031-26B5-FBD0-B32D-862F79578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AFCD-8DA2-4B45-92E8-C497A82B5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560182"/>
            <a:ext cx="10960391" cy="960881"/>
          </a:xfrm>
        </p:spPr>
        <p:txBody>
          <a:bodyPr>
            <a:normAutofit/>
          </a:bodyPr>
          <a:lstStyle/>
          <a:p>
            <a:r>
              <a:rPr lang="en-US" dirty="0"/>
              <a:t>Rathskeller games room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7ACE-B5B9-F26C-4D6D-E76A44720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0" y="1138163"/>
            <a:ext cx="10960392" cy="51596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Former “Mother’s” space moved to west side, in former bowling alley area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Multipurpose theater and music performance space with stage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Also useful for group presentations</a:t>
            </a:r>
          </a:p>
          <a:p>
            <a:r>
              <a:rPr lang="en-US" dirty="0">
                <a:solidFill>
                  <a:schemeClr val="tx1"/>
                </a:solidFill>
              </a:rPr>
              <a:t>Pre-Function Lounge in front of the theater, multipurpose</a:t>
            </a:r>
          </a:p>
          <a:p>
            <a:r>
              <a:rPr lang="en-US" dirty="0">
                <a:solidFill>
                  <a:schemeClr val="tx1"/>
                </a:solidFill>
              </a:rPr>
              <a:t>Ballroom is an extension of the regular Rath dining area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But it can be enclosed for special events</a:t>
            </a:r>
          </a:p>
          <a:p>
            <a:r>
              <a:rPr lang="en-US" dirty="0">
                <a:solidFill>
                  <a:schemeClr val="tx1"/>
                </a:solidFill>
              </a:rPr>
              <a:t>Arcade area for video gamers</a:t>
            </a:r>
          </a:p>
          <a:p>
            <a:r>
              <a:rPr lang="en-US" dirty="0">
                <a:solidFill>
                  <a:schemeClr val="tx1"/>
                </a:solidFill>
              </a:rPr>
              <a:t>Billiards and ping pong tables have separate area</a:t>
            </a:r>
          </a:p>
          <a:p>
            <a:r>
              <a:rPr lang="en-US" dirty="0">
                <a:solidFill>
                  <a:schemeClr val="tx1"/>
                </a:solidFill>
              </a:rPr>
              <a:t>This was all done from May to August 2025 to minimize disruption to students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671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03A1C-17C0-3BF3-DB0E-0D50CF22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CA8E9-BAC6-BCEA-F492-A8A99AE0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60182"/>
            <a:ext cx="8534400" cy="960881"/>
          </a:xfrm>
        </p:spPr>
        <p:txBody>
          <a:bodyPr/>
          <a:lstStyle/>
          <a:p>
            <a:r>
              <a:rPr lang="en-US" dirty="0"/>
              <a:t>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AA1AC-7024-3B5B-280B-F8A0D6283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521063"/>
            <a:ext cx="10823576" cy="41049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New RPI administration with President Marty Schmidt, Class of 1981 (and former Bray Hall resident!) is a breath of fresh air</a:t>
            </a:r>
          </a:p>
          <a:p>
            <a:r>
              <a:rPr lang="en-US" dirty="0">
                <a:solidFill>
                  <a:schemeClr val="tx1"/>
                </a:solidFill>
              </a:rPr>
              <a:t>Prior antagonism and oppressive SAJ oversight is gone, along with most or all of the previous RPI administration (with new Trustees also)</a:t>
            </a:r>
          </a:p>
          <a:p>
            <a:r>
              <a:rPr lang="en-US" dirty="0">
                <a:solidFill>
                  <a:schemeClr val="tx1"/>
                </a:solidFill>
              </a:rPr>
              <a:t>Union is still very much a part of the Institute, but much freedom has been restored</a:t>
            </a:r>
          </a:p>
          <a:p>
            <a:r>
              <a:rPr lang="en-US" dirty="0">
                <a:solidFill>
                  <a:schemeClr val="tx1"/>
                </a:solidFill>
              </a:rPr>
              <a:t>Charlie reports that RPI respect for student government has increased</a:t>
            </a:r>
          </a:p>
          <a:p>
            <a:r>
              <a:rPr lang="en-US" dirty="0">
                <a:solidFill>
                  <a:schemeClr val="tx1"/>
                </a:solidFill>
              </a:rPr>
              <a:t>Reporting structure for the Director of the Union is now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Director &gt; Vice Provost</a:t>
            </a:r>
            <a:r>
              <a:rPr lang="en-US">
                <a:solidFill>
                  <a:schemeClr val="tx1"/>
                </a:solidFill>
              </a:rPr>
              <a:t>, Student Life </a:t>
            </a:r>
            <a:r>
              <a:rPr lang="en-US" dirty="0">
                <a:solidFill>
                  <a:schemeClr val="tx1"/>
                </a:solidFill>
              </a:rPr>
              <a:t>&gt; Provost &gt; President Schmidt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Big change from previous toxic arrangement with Dean of Students as an obstructive intermediary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9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2271-D4A7-DB89-949C-F5646CDC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8738-429C-9F35-DF46-6C4DB090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60182"/>
            <a:ext cx="8534400" cy="960881"/>
          </a:xfrm>
        </p:spPr>
        <p:txBody>
          <a:bodyPr>
            <a:normAutofit/>
          </a:bodyPr>
          <a:lstStyle/>
          <a:p>
            <a:r>
              <a:rPr lang="en-US" dirty="0"/>
              <a:t>Clubs and student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E2226-4968-810B-1EC4-E4F5F6DE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1521064"/>
            <a:ext cx="11241626" cy="4905494"/>
          </a:xfrm>
        </p:spPr>
        <p:txBody>
          <a:bodyPr>
            <a:normAutofit fontScale="40000" lnSpcReduction="20000"/>
          </a:bodyPr>
          <a:lstStyle/>
          <a:p>
            <a:r>
              <a:rPr lang="en-US" sz="4200" dirty="0">
                <a:solidFill>
                  <a:schemeClr val="tx1"/>
                </a:solidFill>
              </a:rPr>
              <a:t>The Union continues to sponsor and fund many different clubs and activities</a:t>
            </a:r>
          </a:p>
          <a:p>
            <a:pPr lvl="1"/>
            <a:r>
              <a:rPr lang="en-US" sz="4200" dirty="0">
                <a:solidFill>
                  <a:schemeClr val="tx1"/>
                </a:solidFill>
              </a:rPr>
              <a:t>Student government, of course, with Senate and E-Board, with class reps </a:t>
            </a:r>
          </a:p>
          <a:p>
            <a:pPr lvl="1"/>
            <a:r>
              <a:rPr lang="en-US" sz="4200" dirty="0">
                <a:solidFill>
                  <a:schemeClr val="tx1"/>
                </a:solidFill>
              </a:rPr>
              <a:t>Loads of special interest clubs, from Ski Club to RPI Ambulance to ethnic groups and many more</a:t>
            </a:r>
          </a:p>
          <a:p>
            <a:pPr lvl="1"/>
            <a:r>
              <a:rPr lang="en-US" sz="4200" dirty="0">
                <a:solidFill>
                  <a:schemeClr val="tx1"/>
                </a:solidFill>
              </a:rPr>
              <a:t>The RPI Players are currently putting on shows at Russell Sage College’s theater, as the RPI Playhouse on 15</a:t>
            </a:r>
            <a:r>
              <a:rPr lang="en-US" sz="4200" baseline="30000" dirty="0">
                <a:solidFill>
                  <a:schemeClr val="tx1"/>
                </a:solidFill>
              </a:rPr>
              <a:t>th</a:t>
            </a:r>
            <a:r>
              <a:rPr lang="en-US" sz="4200" dirty="0">
                <a:solidFill>
                  <a:schemeClr val="tx1"/>
                </a:solidFill>
              </a:rPr>
              <a:t> Street was damaged by a flood and is unusable. Future under discussion.</a:t>
            </a:r>
          </a:p>
          <a:p>
            <a:pPr lvl="1"/>
            <a:r>
              <a:rPr lang="en-US" sz="4200" dirty="0">
                <a:solidFill>
                  <a:schemeClr val="tx1"/>
                </a:solidFill>
              </a:rPr>
              <a:t>50 club sports (a surprise to me) – not intramurals which are campus-based, but these are non-NCAA sports teams that travel and compete against other colleges</a:t>
            </a:r>
          </a:p>
          <a:p>
            <a:pPr lvl="1"/>
            <a:r>
              <a:rPr lang="en-US" sz="4200" dirty="0">
                <a:solidFill>
                  <a:schemeClr val="tx1"/>
                </a:solidFill>
              </a:rPr>
              <a:t>A sore spot with me: Publications are basically dead – no Transit yearbook, Unicorn, Engineer, Gorgon, with the Poly on life support</a:t>
            </a:r>
          </a:p>
          <a:p>
            <a:r>
              <a:rPr lang="en-US" sz="4200" dirty="0">
                <a:solidFill>
                  <a:schemeClr val="tx1"/>
                </a:solidFill>
              </a:rPr>
              <a:t>Prior (circa 2020-01) student participation was severely impacted by Covid, but has gradually come back. However…</a:t>
            </a:r>
          </a:p>
          <a:p>
            <a:pPr lvl="1"/>
            <a:r>
              <a:rPr lang="en-US" sz="4200" dirty="0">
                <a:solidFill>
                  <a:schemeClr val="tx1"/>
                </a:solidFill>
              </a:rPr>
              <a:t>The ARCH program (which was recently scaled back) has been a continuing issue, as its semester-long interruption for juniors has had the unintended effect of affecting the progression of club leadership roles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27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0988F-18A5-B880-BD33-B667B55E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75E0-19F5-E4C0-AD9B-5C3D5293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60182"/>
            <a:ext cx="8534400" cy="960881"/>
          </a:xfrm>
        </p:spPr>
        <p:txBody>
          <a:bodyPr/>
          <a:lstStyle/>
          <a:p>
            <a:r>
              <a:rPr lang="en-US" dirty="0"/>
              <a:t>Exterior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F0079-27CB-DF12-3117-912F297FF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521063"/>
            <a:ext cx="10823576" cy="410495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Experiment with food service during good weather (which leaves out 6 months in Troy 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) outside on the south patio facing the Armory</a:t>
            </a:r>
          </a:p>
          <a:p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New Ropes Course on Sunset Terrace near </a:t>
            </a:r>
            <a:r>
              <a:rPr lang="en-U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Bryckwyck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 (at the former site of W2SZ)</a:t>
            </a:r>
          </a:p>
          <a:p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New outdoor Sports Court in the area near Nugent and Warren Halls, and the back of the Bouton Road softball field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12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7139-69E2-F086-F6D0-FA608499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DD168-7933-DEAE-3238-B79FCE1BB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60182"/>
            <a:ext cx="8534400" cy="960881"/>
          </a:xfrm>
        </p:spPr>
        <p:txBody>
          <a:bodyPr>
            <a:normAutofit/>
          </a:bodyPr>
          <a:lstStyle/>
          <a:p>
            <a:r>
              <a:rPr lang="en-US" dirty="0"/>
              <a:t>Future endeavors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E26B5-E216-F64D-66E3-CF6033CAC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378039"/>
            <a:ext cx="10823576" cy="5112913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The 1999-2000 building renovations were funded by a 25-year bond, with interest paid from a special assessment added to the student activity fee</a:t>
            </a:r>
          </a:p>
          <a:p>
            <a:r>
              <a:rPr lang="en-US" sz="2200" dirty="0">
                <a:solidFill>
                  <a:schemeClr val="tx1"/>
                </a:solidFill>
              </a:rPr>
              <a:t>Even though that bond was recently retired, the E-Board has elected to continue funding the budget line item previously used for the bond, despite the temptation to eliminate the expense and lower the activity fee. Why? </a:t>
            </a:r>
            <a:r>
              <a:rPr lang="en-US" sz="2200" i="1" dirty="0">
                <a:solidFill>
                  <a:schemeClr val="tx1"/>
                </a:solidFill>
              </a:rPr>
              <a:t>(see next item)</a:t>
            </a:r>
          </a:p>
          <a:p>
            <a:r>
              <a:rPr lang="en-US" sz="2200" dirty="0">
                <a:solidFill>
                  <a:schemeClr val="tx1"/>
                </a:solidFill>
              </a:rPr>
              <a:t>A grand plan is taking shape to expand the building structure which will require considerable expenditures. Just like </a:t>
            </a:r>
            <a:r>
              <a:rPr lang="en-US" sz="2200" u="sng" dirty="0">
                <a:solidFill>
                  <a:schemeClr val="tx1"/>
                </a:solidFill>
              </a:rPr>
              <a:t>our predecessors</a:t>
            </a:r>
            <a:r>
              <a:rPr lang="en-US" sz="2200" dirty="0">
                <a:solidFill>
                  <a:schemeClr val="tx1"/>
                </a:solidFill>
              </a:rPr>
              <a:t> in 1957 who self-taxed for construction of the present Union, and the same in 1999 for major renovations, the current students are looking to the future for projects probably requiring millions of dollars.</a:t>
            </a:r>
          </a:p>
          <a:p>
            <a:r>
              <a:rPr lang="en-US" sz="2200" dirty="0">
                <a:solidFill>
                  <a:schemeClr val="tx1"/>
                </a:solidFill>
              </a:rPr>
              <a:t>One short-term less expensive project is under discussion to finally enclose the fourth exterior balcony on the south side.  This will coordinate with the large meeting room adjacent to it</a:t>
            </a:r>
          </a:p>
          <a:p>
            <a:r>
              <a:rPr lang="en-US" sz="2200" dirty="0">
                <a:solidFill>
                  <a:schemeClr val="tx1"/>
                </a:solidFill>
              </a:rPr>
              <a:t>AND… That brings us to alumni gifts given directly to the Union, including (hopefully) a nice sum collected for our 50</a:t>
            </a:r>
            <a:r>
              <a:rPr lang="en-US" sz="2200" baseline="30000" dirty="0">
                <a:solidFill>
                  <a:schemeClr val="tx1"/>
                </a:solidFill>
              </a:rPr>
              <a:t>th</a:t>
            </a:r>
            <a:r>
              <a:rPr lang="en-US" sz="2200" dirty="0">
                <a:solidFill>
                  <a:schemeClr val="tx1"/>
                </a:solidFill>
              </a:rPr>
              <a:t> Reunion in 2029…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29079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151</TotalTime>
  <Words>824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Century Gothic</vt:lpstr>
      <vt:lpstr>Wingdings</vt:lpstr>
      <vt:lpstr>Wingdings 3</vt:lpstr>
      <vt:lpstr>Slice</vt:lpstr>
      <vt:lpstr>State of the        Rensselaer Union         </vt:lpstr>
      <vt:lpstr>MAJOR TOPICS</vt:lpstr>
      <vt:lpstr>State of the building</vt:lpstr>
      <vt:lpstr>Rathskeller games room reconstruction</vt:lpstr>
      <vt:lpstr>Rathskeller games room reconstruction</vt:lpstr>
      <vt:lpstr>Governance</vt:lpstr>
      <vt:lpstr>Clubs and student participation</vt:lpstr>
      <vt:lpstr>Exterior projects</vt:lpstr>
      <vt:lpstr>Future endeavors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Kessler</dc:creator>
  <cp:lastModifiedBy>Jon Kessler</cp:lastModifiedBy>
  <cp:revision>7</cp:revision>
  <dcterms:created xsi:type="dcterms:W3CDTF">2025-11-18T21:33:18Z</dcterms:created>
  <dcterms:modified xsi:type="dcterms:W3CDTF">2025-12-21T02:34:18Z</dcterms:modified>
</cp:coreProperties>
</file>